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38"/>
      <p:bold r:id="rId39"/>
      <p:italic r:id="rId40"/>
      <p:boldItalic r:id="rId41"/>
    </p:embeddedFont>
    <p:embeddedFont>
      <p:font typeface="Old Standard TT" pitchFamily="2" charset="77"/>
      <p:regular r:id="rId42"/>
      <p:bold r:id="rId43"/>
      <p: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57"/>
  </p:normalViewPr>
  <p:slideViewPr>
    <p:cSldViewPr snapToGrid="0" snapToObjects="1">
      <p:cViewPr varScale="1">
        <p:scale>
          <a:sx n="97" d="100"/>
          <a:sy n="97" d="100"/>
        </p:scale>
        <p:origin x="18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5b1fef9f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5b1fef9f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5b1fef9f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5b1fef9fc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67b813253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67b813253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6e962fa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6e962fa2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718d1863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718d1863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718d1863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718d1863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71b749e22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71b749e22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71b749e22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71b749e22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71b749e22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71b749e22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71b749e22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71b749e22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71b749e22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71b749e22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71b749e22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71b749e22_1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71b749e22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71b749e22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71b749e22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71b749e22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71b749e22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71b749e22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71b749e22_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71b749e22_2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71b749e22_2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71b749e22_2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71b749e22_2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71b749e22_2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71b749e22_2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71b749e22_2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71b749e22_2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71b749e22_2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71b749e22_2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71b749e22_2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71b749e22_2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71b749e22_2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71b749e22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71b749e22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71b749e22_2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71b749e22_2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71b749e22_2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71b749e22_2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71de1260e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71de1260e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71de1260e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171de1260e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71de1260e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71de1260e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71de1260e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71de1260e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71de1260e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71de1260e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71de1260e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171de1260e_1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71f3b08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71f3b08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71f3b08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71f3b08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5bdaa679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15bdaa679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33"/>
            <a:ext cx="9144000" cy="228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4796667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12700" y="2524400"/>
            <a:ext cx="8118600" cy="20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12700" y="5120852"/>
            <a:ext cx="8118600" cy="10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4796667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12700" y="2524400"/>
            <a:ext cx="8118600" cy="20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562233"/>
            <a:ext cx="39999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562233"/>
            <a:ext cx="39999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701800"/>
            <a:ext cx="56040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5994000"/>
            <a:ext cx="686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843133"/>
            <a:ext cx="4045200" cy="177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17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86200"/>
            <a:ext cx="8520600" cy="28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43045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back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2700" y="2524400"/>
            <a:ext cx="8118600" cy="20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CSS 3 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512700" y="5120852"/>
            <a:ext cx="8118600" cy="10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Prof. Victor Farias</a:t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7192100" y="5222625"/>
            <a:ext cx="50643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V 1.0</a:t>
            </a:r>
            <a:endParaRPr>
              <a:solidFill>
                <a:srgbClr val="D9D9D9"/>
              </a:solidFill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2800" y="227100"/>
            <a:ext cx="1929725" cy="192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 l="15417" r="18641"/>
          <a:stretch/>
        </p:blipFill>
        <p:spPr>
          <a:xfrm>
            <a:off x="757875" y="1714500"/>
            <a:ext cx="3047099" cy="462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5775" y="859807"/>
            <a:ext cx="4438500" cy="55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39100" y="1714500"/>
            <a:ext cx="3006012" cy="4620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512700" y="2524400"/>
            <a:ext cx="8118600" cy="20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CSS 3</a:t>
            </a:r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CSS 3 é a especificação mais recente do CSS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Ele foi divido em módulos que incorporam a especificação antiga do CSS: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Selectors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Box Model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Backgrounds and Borders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Image Values and Replaced Content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Text Effects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2D/3D Transformations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Animations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Multiple Column Layout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User Interface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512700" y="2524400"/>
            <a:ext cx="8118600" cy="20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CSS 3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Bordas Arredondas</a:t>
            </a:r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Propriedade </a:t>
            </a:r>
            <a:r>
              <a:rPr lang="pt-BR" b="1"/>
              <a:t>border-radius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É possível colocar de 1 a 4 valores: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Um valor: todos os cantos são arredondados igualmente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Dois valores: primeiro valor é aplicado no top-left e no bottom-right. O segundo valor é aplicado ao top-right e ao bottom-left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Três valores: o primeiro valor é aplicado ao top-left, o segundo é aplicado ao top-right e o bottom-left e o terceiro é aplicado ao bottom-right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Quatro valores: o primeiro é aplicado ao top-left, o segundo é aplicado ao top-right, o terceiro é aplicado ao bottom-right e o quarto é aplicado o bottom-left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border-radius</a:t>
            </a:r>
            <a:r>
              <a:rPr lang="pt-BR" sz="12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2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25px</a:t>
            </a:r>
            <a:r>
              <a:rPr lang="pt-BR" sz="12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 b="1"/>
              <a:t>border-radius </a:t>
            </a:r>
            <a:r>
              <a:rPr lang="pt-BR"/>
              <a:t>é atalho para </a:t>
            </a:r>
            <a:r>
              <a:rPr lang="pt-BR" b="1"/>
              <a:t>border-top-left-radius</a:t>
            </a:r>
            <a:r>
              <a:rPr lang="pt-BR"/>
              <a:t>, </a:t>
            </a:r>
            <a:r>
              <a:rPr lang="pt-BR" b="1"/>
              <a:t>border-top-right-radius</a:t>
            </a:r>
            <a:r>
              <a:rPr lang="pt-BR"/>
              <a:t>, </a:t>
            </a:r>
            <a:r>
              <a:rPr lang="pt-BR" b="1"/>
              <a:t>border-bottom-right-radius</a:t>
            </a:r>
            <a:r>
              <a:rPr lang="pt-BR"/>
              <a:t> e </a:t>
            </a:r>
            <a:r>
              <a:rPr lang="pt-BR" b="1"/>
              <a:t>border-bottom-left-radius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Backgrounds</a:t>
            </a:r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Background múltiplos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#example1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background-image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url(img_flwr.gif), url(paper.gif)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 background-position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right bottom, left top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 background-repeat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no-repeat, repeat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OU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#example1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url(img_flwr.gif) right bottom no-repeat, url(paper.gif) left top repeat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Gradientes</a:t>
            </a:r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Em CSS 3 é possível definir gradientes gerados pelo navegador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Melhora tempo de download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Elementos tem melhor aparência quando redimensionado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Dois tipos de gradiente: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Gradiente Linear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Gradiente Radial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Gradientes Lineares</a:t>
            </a:r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Gradiente de cima para baixo (padrão)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background: linear-gradient(</a:t>
            </a:r>
            <a:r>
              <a:rPr lang="pt-BR" sz="1100" i="1">
                <a:latin typeface="Arial"/>
                <a:ea typeface="Arial"/>
                <a:cs typeface="Arial"/>
                <a:sym typeface="Arial"/>
              </a:rPr>
              <a:t>direction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pt-BR" sz="1100" i="1">
                <a:latin typeface="Arial"/>
                <a:ea typeface="Arial"/>
                <a:cs typeface="Arial"/>
                <a:sym typeface="Arial"/>
              </a:rPr>
              <a:t>color-stop1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pt-BR" sz="1100" i="1">
                <a:latin typeface="Arial"/>
                <a:ea typeface="Arial"/>
                <a:cs typeface="Arial"/>
                <a:sym typeface="Arial"/>
              </a:rPr>
              <a:t>color-stop2, ...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);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#grad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red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For browsers that do not support gradients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	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-webkit-linear-gradient(red, yellow)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For Safari 5.1 to 6.0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-o-linear-gradient(red, yellow)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For Opera 11.1 to 12.0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-moz-linear-gradient(red, yellow)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For Firefox 3.6 to 15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linear-gradient(red, yellow)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Standard syntax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Gradientes Lineares</a:t>
            </a:r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Gradiente da esquerda para direita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#grad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45720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red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For browsers that do not support gradients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45720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-webkit-linear-gradient(left, red , yellow)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For Safari 5.1 to 6.0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45720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-o-linear-gradient(right, red, yellow)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For Opera 11.1 to 12.0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45720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-moz-linear-gradient(right, red, yellow)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For Firefox 3.6 to 15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45720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linear-gradient(to right, red , yellow)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Standard syntax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Gradientes Lineares</a:t>
            </a:r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Gradiente na diagonal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#grad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45720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red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For browsers that do not support gradients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45720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-webkit-linear-gradient(left top, red, yellow)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For Safari 5.1 to 6.0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45720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-o-linear-gradient(bottom right, red, yellow)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For Opera 11.1 to 12.0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45720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-moz-linear-gradient(bottom right, red, yellow)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For Firefox 3.6 to 15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45720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linear-gradient(to bottom right, red, yellow)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Standard syntax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solidFill>
                <a:srgbClr val="A52A2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Gradientes Lineares</a:t>
            </a:r>
            <a:endParaRPr/>
          </a:p>
        </p:txBody>
      </p:sp>
      <p:sp>
        <p:nvSpPr>
          <p:cNvPr id="128" name="Google Shape;128;p24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Gradiente com angulo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#grad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45720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red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For browsers that do not support gradients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45720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-webkit-linear-gradient(-90deg, red, yellow)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For Safari 5.1 to 6.0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45720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-o-linear-gradient(-90deg, red, yellow)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For Opera 11.1 to 12.0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45720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-moz-linear-gradient(-90deg, red, yellow)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For Firefox 3.6 to 15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45720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linear-gradient(-90deg, red, yellow)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Standard syntax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solidFill>
                <a:srgbClr val="A52A2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Gradientes Lineares</a:t>
            </a:r>
            <a:endParaRPr/>
          </a:p>
        </p:txBody>
      </p:sp>
      <p:sp>
        <p:nvSpPr>
          <p:cNvPr id="134" name="Google Shape;134;p25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Gradiente com várias cores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#grad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red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For browsers that do not support gradients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For Safari 5.1 to 6.0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-webkit-linear-gradient(left,red,orange,yellow,green,blue,indigo,violet)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For Opera 11.1 to 12.0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-o-linear-gradient(left,red,orange,yellow,green,blue,indigo,violet)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For Fx 3.6 to 15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-moz-linear-gradient(left,red,orange,yellow,green,blue,indigo,violet)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Standard syntax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linear-gradient(to right, red,orange,yellow,green,blue,indigo,violet)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solidFill>
                <a:srgbClr val="A52A2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Gradientes Radiais</a:t>
            </a:r>
            <a:endParaRPr/>
          </a:p>
        </p:txBody>
      </p:sp>
      <p:sp>
        <p:nvSpPr>
          <p:cNvPr id="140" name="Google Shape;140;p26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 gradiente radial é definido por seu centro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background: radial-gradient(</a:t>
            </a:r>
            <a:r>
              <a:rPr lang="pt-BR" sz="1100" i="1">
                <a:latin typeface="Arial"/>
                <a:ea typeface="Arial"/>
                <a:cs typeface="Arial"/>
                <a:sym typeface="Arial"/>
              </a:rPr>
              <a:t>shape size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at</a:t>
            </a:r>
            <a:r>
              <a:rPr lang="pt-BR" sz="1100" i="1">
                <a:latin typeface="Arial"/>
                <a:ea typeface="Arial"/>
                <a:cs typeface="Arial"/>
                <a:sym typeface="Arial"/>
              </a:rPr>
              <a:t> position, start-color, ..., last-color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);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Cores igualmente espaçadas: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#grad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red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For browsers that do not support gradients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-webkit-radial-gradient(red, yellow, green)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Safari 5.1 to 6.0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-o-radial-gradient(red, yellow, green)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For Opera 11.6 to 12.0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-moz-radial-gradient(red, yellow, green)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For Firefox 3.6 to 15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radial-gradient(red, yellow, green)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Standard syntax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Gradientes Radiais</a:t>
            </a:r>
            <a:endParaRPr/>
          </a:p>
        </p:txBody>
      </p:sp>
      <p:sp>
        <p:nvSpPr>
          <p:cNvPr id="146" name="Google Shape;146;p27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Cores com espaçamentos diferentes: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#grad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red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For browsers that do not support gradients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-webkit-radial-gradient(red 5%, yellow 15%, green 60%)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Safari 5.1-6.0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-o-radial-gradient(red 5%, yellow 15%, green 60%)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For Opera 11.6-12.0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-moz-radial-gradient(red 5%, yellow 15%, green 60%)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For Firefox 3.6-15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radial-gradient(red 5%, yellow 15%, green 60%)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Standard syntax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Sombra</a:t>
            </a:r>
            <a:endParaRPr/>
          </a:p>
        </p:txBody>
      </p:sp>
      <p:sp>
        <p:nvSpPr>
          <p:cNvPr id="152" name="Google Shape;152;p28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Podemos criar sombras em texto e em elementos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	text-shadow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	box-shadow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Sombra</a:t>
            </a:r>
            <a:endParaRPr/>
          </a:p>
        </p:txBody>
      </p:sp>
      <p:sp>
        <p:nvSpPr>
          <p:cNvPr id="158" name="Google Shape;158;p29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Propriedade </a:t>
            </a:r>
            <a:r>
              <a:rPr lang="pt-BR" b="1"/>
              <a:t>text-shadow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Quatros valores: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tamanho horizontal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tamanho vertical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tamanho do blur (opcional)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cor (opcional)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h1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color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white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text-shadow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2px 2px 4px #000000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Ou múltiplos shadows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h1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 text-shadow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0 0 3px #FF0000, 0 0 5px #0000FF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Sombra</a:t>
            </a:r>
            <a:endParaRPr/>
          </a:p>
        </p:txBody>
      </p:sp>
      <p:sp>
        <p:nvSpPr>
          <p:cNvPr id="164" name="Google Shape;164;p30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Propriedade </a:t>
            </a:r>
            <a:r>
              <a:rPr lang="pt-BR" b="1"/>
              <a:t>box-shadow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Adiciona sombra em elementos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Mesmos quatro valores de</a:t>
            </a:r>
            <a:r>
              <a:rPr lang="pt-BR" b="1"/>
              <a:t> text-shadow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div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color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white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 box-shadow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1px 2px 4px rgba(0, 0, 0, .5)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Transformações 2D </a:t>
            </a:r>
            <a:endParaRPr/>
          </a:p>
        </p:txBody>
      </p:sp>
      <p:sp>
        <p:nvSpPr>
          <p:cNvPr id="170" name="Google Shape;170;p31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Transformações CSS permitem transladar, rotacionar, dimensionar e inclinar elementos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	translate()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	rotate()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	scale()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	skewX()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	skewY()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	matrix()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Transformações 2D</a:t>
            </a:r>
            <a:endParaRPr/>
          </a:p>
        </p:txBody>
      </p:sp>
      <p:sp>
        <p:nvSpPr>
          <p:cNvPr id="176" name="Google Shape;176;p32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Método </a:t>
            </a:r>
            <a:r>
              <a:rPr lang="pt-BR" b="1"/>
              <a:t>translate()</a:t>
            </a:r>
            <a:r>
              <a:rPr lang="pt-BR"/>
              <a:t> move elemento em relação à sua posição original</a:t>
            </a: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div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-ms-transform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translate(50px, 100px)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IE 9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-webkit-transform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translate(50px, 100px)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Safari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transform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translate(50px, 100px)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Transformações 2D</a:t>
            </a:r>
            <a:endParaRPr/>
          </a:p>
        </p:txBody>
      </p:sp>
      <p:sp>
        <p:nvSpPr>
          <p:cNvPr id="182" name="Google Shape;182;p33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Método </a:t>
            </a:r>
            <a:r>
              <a:rPr lang="pt-BR" b="1"/>
              <a:t>rotate()</a:t>
            </a:r>
            <a:r>
              <a:rPr lang="pt-BR"/>
              <a:t> rotaciona elemento segundo um dado angulo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100">
              <a:solidFill>
                <a:srgbClr val="A52A2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div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-ms-transform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rotate(20deg)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IE 9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-webkit-transform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rotate(20deg)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Safari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transform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rotate(20deg)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Transformações 2D</a:t>
            </a:r>
            <a:endParaRPr/>
          </a:p>
        </p:txBody>
      </p:sp>
      <p:sp>
        <p:nvSpPr>
          <p:cNvPr id="188" name="Google Shape;188;p34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Método </a:t>
            </a:r>
            <a:r>
              <a:rPr lang="pt-BR" b="1"/>
              <a:t>scale()</a:t>
            </a:r>
            <a:r>
              <a:rPr lang="pt-BR"/>
              <a:t> aumenta ou diminui o elemento em relação ao seu tamanho original</a:t>
            </a: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div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-ms-transform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scale(2, 3)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IE 9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-webkit-transform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scale(2, 3)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Safari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transform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scale(2, 3)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solidFill>
                <a:srgbClr val="A52A2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Transformações 2D</a:t>
            </a:r>
            <a:endParaRPr/>
          </a:p>
        </p:txBody>
      </p:sp>
      <p:sp>
        <p:nvSpPr>
          <p:cNvPr id="194" name="Google Shape;194;p35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Métodos </a:t>
            </a:r>
            <a:r>
              <a:rPr lang="pt-BR" b="1"/>
              <a:t>skewX() </a:t>
            </a:r>
            <a:r>
              <a:rPr lang="pt-BR"/>
              <a:t>e</a:t>
            </a:r>
            <a:r>
              <a:rPr lang="pt-BR" b="1"/>
              <a:t> skewY()</a:t>
            </a:r>
            <a:r>
              <a:rPr lang="pt-BR"/>
              <a:t> para inclinar elemento no eixo X ou Y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div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-ms-transform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skewY(20deg)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IE 9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-webkit-transform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skewY(20deg)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Safari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transform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skewY(20deg)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Ou os dois juntos (eixo X e Y)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div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-ms-transform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skew(20deg, 10deg)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IE 9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-webkit-transform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skew(20deg, 10deg)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Safari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transform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skew(20deg, 10deg)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Transformações 2D</a:t>
            </a:r>
            <a:endParaRPr/>
          </a:p>
        </p:txBody>
      </p:sp>
      <p:sp>
        <p:nvSpPr>
          <p:cNvPr id="200" name="Google Shape;200;p36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Método </a:t>
            </a:r>
            <a:r>
              <a:rPr lang="pt-BR" b="1"/>
              <a:t>matrix() </a:t>
            </a:r>
            <a:r>
              <a:rPr lang="pt-BR"/>
              <a:t>agrupa todos os métodos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matrix(scaleX(),skewY(),skewX(),scaleY(),translateX(),translateY()):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div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-ms-transform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matrix(1, -0.3, 0, 1, 0, 0)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IE 9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 -webkit-transform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matrix(1, -0.3, 0, 1, 0, 0)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Safari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 transform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matrix(1, -0.3, 0, 1, 0, 0)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Transformações 3D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37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Métodos </a:t>
            </a:r>
            <a:r>
              <a:rPr lang="pt-BR" b="1"/>
              <a:t>rotateX()</a:t>
            </a:r>
            <a:r>
              <a:rPr lang="pt-BR"/>
              <a:t>, </a:t>
            </a:r>
            <a:r>
              <a:rPr lang="pt-BR" b="1"/>
              <a:t>rotateY()</a:t>
            </a:r>
            <a:r>
              <a:rPr lang="pt-BR"/>
              <a:t> e </a:t>
            </a:r>
            <a:r>
              <a:rPr lang="pt-BR" b="1"/>
              <a:t>rotateZ() </a:t>
            </a:r>
            <a:r>
              <a:rPr lang="pt-BR"/>
              <a:t>para rotacionar elementos nos eixos X, Y e Z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div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-webkit-transform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rotateX(150deg)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Safari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transform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rotateX(150deg)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Transições</a:t>
            </a:r>
            <a:endParaRPr/>
          </a:p>
        </p:txBody>
      </p:sp>
      <p:sp>
        <p:nvSpPr>
          <p:cNvPr id="212" name="Google Shape;212;p38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Transições CSS permitem mudar valores de propriedade suavemente em um tempo determinado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Deve ser especificado, pelo menos, duas coisas: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 propriedade CSS na qual o efeito será adicionado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 duração do efeito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div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width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100px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height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100px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 background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red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-webkit-transition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width 2s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Safari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transition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width 2s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div:hover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width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300px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Ou, para várias propriedades: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div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-webkit-transition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width 2s, height 4s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Safari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transition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width 2s, height 4s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Transições</a:t>
            </a:r>
            <a:endParaRPr/>
          </a:p>
        </p:txBody>
      </p:sp>
      <p:sp>
        <p:nvSpPr>
          <p:cNvPr id="218" name="Google Shape;218;p39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Propriedade </a:t>
            </a:r>
            <a:r>
              <a:rPr lang="pt-BR" b="1"/>
              <a:t>transition-timing-function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Define curva de velocidade do efeito de transição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Valores: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ease - começo lento, meio rápido e final lento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linear - mesma velocidade do começo ao fim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ease-in - começo lento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ease-out - fim lento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ease-in-out - começo e fim lento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cubic-bezier(n,n,n,n) - você pode definir os valore para a função cúbica de bezier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Propriedade </a:t>
            </a:r>
            <a:r>
              <a:rPr lang="pt-BR" b="1"/>
              <a:t>transition-delay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Define tempo para começar o efeito de transição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Transições</a:t>
            </a:r>
            <a:endParaRPr/>
          </a:p>
        </p:txBody>
      </p:sp>
      <p:sp>
        <p:nvSpPr>
          <p:cNvPr id="224" name="Google Shape;224;p40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Propriedade </a:t>
            </a:r>
            <a:r>
              <a:rPr lang="pt-BR" b="1"/>
              <a:t>transition</a:t>
            </a:r>
            <a:endParaRPr b="1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Propriedade atalho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4 valores: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Propriedade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Tempo de duração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Curva da velocidade do efeito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Tempo de delay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div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transition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width 2s linear 1s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Obs: se não definir tempo de duração, o padrão é 0s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Animação</a:t>
            </a:r>
            <a:endParaRPr/>
          </a:p>
        </p:txBody>
      </p:sp>
      <p:sp>
        <p:nvSpPr>
          <p:cNvPr id="230" name="Google Shape;230;p41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Animações CCS permitem trocar um estilo para outro de forma gradual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Deve-se especificar quais são os keyframes da animação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Regra </a:t>
            </a:r>
            <a:r>
              <a:rPr lang="pt-BR" b="1"/>
              <a:t>@keyframes</a:t>
            </a:r>
            <a:r>
              <a:rPr lang="pt-BR"/>
              <a:t> para definir estilos dos keyframes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The element to apply the animation to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div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width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100px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height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100px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background-color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red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animation-name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example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animation-duration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4s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The animation code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@keyframes example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    from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background-color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red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;}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    to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background-color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yellow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;}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Obs: se animation-duration não for especificado, o valor padrão 0s será usado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Animação</a:t>
            </a:r>
            <a:endParaRPr/>
          </a:p>
        </p:txBody>
      </p:sp>
      <p:sp>
        <p:nvSpPr>
          <p:cNvPr id="236" name="Google Shape;236;p42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Também é possível usar a porcentagem de conclusão para definir os keyframes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The element to apply the animation to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div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 width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100px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height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100px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 position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relative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background-color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red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 animation-name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example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 animation-duration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4s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/* The animation code */</a:t>
            </a: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@keyframes example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    0%  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background-color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red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left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0px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top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0px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;}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    25% 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background-color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yellow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left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200px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top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0px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;}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    50% 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background-color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blue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left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200px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top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200px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;}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    75% 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background-color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green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left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0px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top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200px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;}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    100%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background-color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red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left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0px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top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0px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;}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Animação</a:t>
            </a:r>
            <a:endParaRPr/>
          </a:p>
        </p:txBody>
      </p:sp>
      <p:sp>
        <p:nvSpPr>
          <p:cNvPr id="242" name="Google Shape;242;p43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Propriedade </a:t>
            </a:r>
            <a:r>
              <a:rPr lang="pt-BR" b="1"/>
              <a:t>animation-iteration-count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Define quantas vezes a animação vai rodar 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Pode ser infinito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div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 width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100px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height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100px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 position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relative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background-color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red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 animation-name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example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 animation-duration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4s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animation-iteration-count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3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ou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div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 width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100px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height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100px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 position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relative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background-color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red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 animation-name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example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 animation-duration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4s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animation-iteration-count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infinite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Box sizing</a:t>
            </a:r>
            <a:endParaRPr/>
          </a:p>
        </p:txBody>
      </p:sp>
      <p:sp>
        <p:nvSpPr>
          <p:cNvPr id="248" name="Google Shape;248;p44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dirty="0"/>
              <a:t>Por padrão, a largura completa do elemento é dado por:</a:t>
            </a:r>
            <a:endParaRPr dirty="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dirty="0" err="1"/>
              <a:t>width</a:t>
            </a:r>
            <a:r>
              <a:rPr lang="pt-BR" dirty="0"/>
              <a:t> + </a:t>
            </a:r>
            <a:r>
              <a:rPr lang="pt-BR" dirty="0" err="1"/>
              <a:t>padding</a:t>
            </a:r>
            <a:r>
              <a:rPr lang="pt-BR" dirty="0"/>
              <a:t> + </a:t>
            </a:r>
            <a:r>
              <a:rPr lang="pt-BR" dirty="0" err="1"/>
              <a:t>border</a:t>
            </a:r>
            <a:endParaRPr dirty="0"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dirty="0"/>
              <a:t>Ou seja, o elemento parece maior do que você definiu</a:t>
            </a:r>
            <a:endParaRPr dirty="0"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dirty="0"/>
              <a:t>Com </a:t>
            </a:r>
            <a:r>
              <a:rPr lang="pt-BR" b="1" dirty="0"/>
              <a:t>box-</a:t>
            </a:r>
            <a:r>
              <a:rPr lang="pt-BR" b="1" dirty="0" err="1"/>
              <a:t>sizing</a:t>
            </a:r>
            <a:r>
              <a:rPr lang="pt-BR" dirty="0"/>
              <a:t> é possível incluir </a:t>
            </a:r>
            <a:r>
              <a:rPr lang="pt-BR" dirty="0" err="1"/>
              <a:t>border</a:t>
            </a:r>
            <a:r>
              <a:rPr lang="pt-BR" dirty="0"/>
              <a:t> e </a:t>
            </a:r>
            <a:r>
              <a:rPr lang="pt-BR" dirty="0" err="1"/>
              <a:t>padding</a:t>
            </a:r>
            <a:r>
              <a:rPr lang="pt-BR" dirty="0"/>
              <a:t> no </a:t>
            </a:r>
            <a:r>
              <a:rPr lang="pt-BR" dirty="0" err="1"/>
              <a:t>width</a:t>
            </a:r>
            <a:r>
              <a:rPr lang="pt-BR" dirty="0"/>
              <a:t> e </a:t>
            </a:r>
            <a:r>
              <a:rPr lang="pt-BR" dirty="0" err="1"/>
              <a:t>height</a:t>
            </a:r>
            <a:endParaRPr dirty="0"/>
          </a:p>
          <a:p>
            <a:pPr marL="0" lvl="0" indent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.div1 </a:t>
            </a:r>
            <a:r>
              <a:rPr lang="pt-BR" sz="1100" dirty="0">
                <a:latin typeface="Arial"/>
                <a:ea typeface="Arial"/>
                <a:cs typeface="Arial"/>
                <a:sym typeface="Arial"/>
              </a:rPr>
              <a:t>{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pt-BR" sz="11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width</a:t>
            </a:r>
            <a:r>
              <a:rPr lang="pt-BR" sz="1100" dirty="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 dirty="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300px</a:t>
            </a:r>
            <a:r>
              <a:rPr lang="pt-BR" sz="1100" dirty="0">
                <a:latin typeface="Arial"/>
                <a:ea typeface="Arial"/>
                <a:cs typeface="Arial"/>
                <a:sym typeface="Arial"/>
              </a:rPr>
              <a:t>;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pt-BR" sz="11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height</a:t>
            </a:r>
            <a:r>
              <a:rPr lang="pt-BR" sz="1100" dirty="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 dirty="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100px</a:t>
            </a:r>
            <a:r>
              <a:rPr lang="pt-BR" sz="1100" dirty="0">
                <a:latin typeface="Arial"/>
                <a:ea typeface="Arial"/>
                <a:cs typeface="Arial"/>
                <a:sym typeface="Arial"/>
              </a:rPr>
              <a:t>;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pt-BR" sz="11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border</a:t>
            </a:r>
            <a:r>
              <a:rPr lang="pt-BR" sz="1100" dirty="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 dirty="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1px </a:t>
            </a:r>
            <a:r>
              <a:rPr lang="pt-BR" sz="1100" dirty="0" err="1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solid</a:t>
            </a:r>
            <a:r>
              <a:rPr lang="pt-BR" sz="1100" dirty="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blue</a:t>
            </a:r>
            <a:r>
              <a:rPr lang="pt-BR" sz="1100" dirty="0">
                <a:latin typeface="Arial"/>
                <a:ea typeface="Arial"/>
                <a:cs typeface="Arial"/>
                <a:sym typeface="Arial"/>
              </a:rPr>
              <a:t>;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box-</a:t>
            </a:r>
            <a:r>
              <a:rPr lang="pt-BR" sz="1100" b="1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sizing</a:t>
            </a:r>
            <a:r>
              <a:rPr lang="pt-BR" sz="1100" b="1" dirty="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 b="1" dirty="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 b="1" dirty="0" err="1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border</a:t>
            </a:r>
            <a:r>
              <a:rPr lang="pt-BR" sz="1100" b="1" dirty="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-box</a:t>
            </a:r>
            <a:r>
              <a:rPr lang="pt-BR" sz="1100" b="1" dirty="0">
                <a:latin typeface="Arial"/>
                <a:ea typeface="Arial"/>
                <a:cs typeface="Arial"/>
                <a:sym typeface="Arial"/>
              </a:rPr>
              <a:t>;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Arial"/>
                <a:ea typeface="Arial"/>
                <a:cs typeface="Arial"/>
                <a:sym typeface="Arial"/>
              </a:rPr>
              <a:t>}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.div2 </a:t>
            </a:r>
            <a:r>
              <a:rPr lang="pt-BR" sz="1100" dirty="0">
                <a:latin typeface="Arial"/>
                <a:ea typeface="Arial"/>
                <a:cs typeface="Arial"/>
                <a:sym typeface="Arial"/>
              </a:rPr>
              <a:t>{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pt-BR" sz="11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width</a:t>
            </a:r>
            <a:r>
              <a:rPr lang="pt-BR" sz="1100" dirty="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 dirty="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300px</a:t>
            </a:r>
            <a:r>
              <a:rPr lang="pt-BR" sz="1100" dirty="0">
                <a:latin typeface="Arial"/>
                <a:ea typeface="Arial"/>
                <a:cs typeface="Arial"/>
                <a:sym typeface="Arial"/>
              </a:rPr>
              <a:t>;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pt-BR" sz="11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height</a:t>
            </a:r>
            <a:r>
              <a:rPr lang="pt-BR" sz="1100" dirty="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 dirty="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100px</a:t>
            </a:r>
            <a:r>
              <a:rPr lang="pt-BR" sz="1100" dirty="0">
                <a:latin typeface="Arial"/>
                <a:ea typeface="Arial"/>
                <a:cs typeface="Arial"/>
                <a:sym typeface="Arial"/>
              </a:rPr>
              <a:t>;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pt-BR" sz="11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padding</a:t>
            </a:r>
            <a:r>
              <a:rPr lang="pt-BR" sz="1100" dirty="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 dirty="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50px</a:t>
            </a:r>
            <a:r>
              <a:rPr lang="pt-BR" sz="1100" dirty="0">
                <a:latin typeface="Arial"/>
                <a:ea typeface="Arial"/>
                <a:cs typeface="Arial"/>
                <a:sym typeface="Arial"/>
              </a:rPr>
              <a:t>;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pt-BR" sz="11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border</a:t>
            </a:r>
            <a:r>
              <a:rPr lang="pt-BR" sz="1100" dirty="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 dirty="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1px </a:t>
            </a:r>
            <a:r>
              <a:rPr lang="pt-BR" sz="1100" dirty="0" err="1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solid</a:t>
            </a:r>
            <a:r>
              <a:rPr lang="pt-BR" sz="1100" dirty="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 dirty="0" err="1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r>
              <a:rPr lang="pt-BR" sz="1100" dirty="0">
                <a:latin typeface="Arial"/>
                <a:ea typeface="Arial"/>
                <a:cs typeface="Arial"/>
                <a:sym typeface="Arial"/>
              </a:rPr>
              <a:t>;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box-</a:t>
            </a:r>
            <a:r>
              <a:rPr lang="pt-BR" sz="1100" b="1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sizing</a:t>
            </a:r>
            <a:r>
              <a:rPr lang="pt-BR" sz="1100" b="1" dirty="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 b="1" dirty="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 b="1" dirty="0" err="1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border</a:t>
            </a:r>
            <a:r>
              <a:rPr lang="pt-BR" sz="1100" b="1" dirty="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-box</a:t>
            </a:r>
            <a:r>
              <a:rPr lang="pt-BR" sz="1100" b="1" dirty="0">
                <a:latin typeface="Arial"/>
                <a:ea typeface="Arial"/>
                <a:cs typeface="Arial"/>
                <a:sym typeface="Arial"/>
              </a:rPr>
              <a:t>;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Arial"/>
                <a:ea typeface="Arial"/>
                <a:cs typeface="Arial"/>
                <a:sym typeface="Arial"/>
              </a:rPr>
              <a:t>}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Media Queries</a:t>
            </a:r>
            <a:endParaRPr/>
          </a:p>
        </p:txBody>
      </p:sp>
      <p:sp>
        <p:nvSpPr>
          <p:cNvPr id="254" name="Google Shape;254;p45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dirty="0"/>
              <a:t>A regra </a:t>
            </a:r>
            <a:r>
              <a:rPr lang="pt-BR" b="1" dirty="0"/>
              <a:t>@media </a:t>
            </a:r>
            <a:r>
              <a:rPr lang="pt-BR" dirty="0"/>
              <a:t>permite mudar o estilo de acordo com as características do equipamento que está </a:t>
            </a:r>
            <a:r>
              <a:rPr lang="pt-BR" dirty="0" err="1"/>
              <a:t>renderizando</a:t>
            </a:r>
            <a:r>
              <a:rPr lang="pt-BR" dirty="0"/>
              <a:t> a página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dirty="0"/>
              <a:t>Media queries conseguem checar várias atributos como: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dirty="0"/>
              <a:t>altura e largura do </a:t>
            </a:r>
            <a:r>
              <a:rPr lang="pt-BR" dirty="0" err="1"/>
              <a:t>viewport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dirty="0"/>
              <a:t>orientação do </a:t>
            </a:r>
            <a:r>
              <a:rPr lang="pt-BR" dirty="0" err="1"/>
              <a:t>tablet</a:t>
            </a:r>
            <a:r>
              <a:rPr lang="pt-BR" dirty="0"/>
              <a:t>/telefone (</a:t>
            </a:r>
            <a:r>
              <a:rPr lang="pt-BR" dirty="0" err="1"/>
              <a:t>landscape</a:t>
            </a:r>
            <a:r>
              <a:rPr lang="pt-BR" dirty="0"/>
              <a:t> ou </a:t>
            </a:r>
            <a:r>
              <a:rPr lang="pt-BR" dirty="0" err="1"/>
              <a:t>portrait</a:t>
            </a:r>
            <a:r>
              <a:rPr lang="pt-BR" dirty="0"/>
              <a:t>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dirty="0"/>
              <a:t>resolução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dirty="0"/>
              <a:t>Sintaxe: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dirty="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@media </a:t>
            </a:r>
            <a:r>
              <a:rPr lang="pt-BR" sz="1100" dirty="0" err="1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not|only</a:t>
            </a:r>
            <a:r>
              <a:rPr lang="pt-BR" sz="1100" dirty="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 i="1" dirty="0" err="1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mediatype</a:t>
            </a:r>
            <a:r>
              <a:rPr lang="pt-BR" sz="1100" i="1" dirty="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 dirty="0" err="1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pt-BR" sz="1100" i="1" dirty="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 dirty="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pt-BR" sz="1100" i="1" dirty="0" err="1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expressions</a:t>
            </a:r>
            <a:r>
              <a:rPr lang="pt-BR" sz="1100" dirty="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pt-BR" sz="1100" dirty="0">
                <a:latin typeface="Arial"/>
                <a:ea typeface="Arial"/>
                <a:cs typeface="Arial"/>
                <a:sym typeface="Arial"/>
              </a:rPr>
              <a:t>{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i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 CSS-</a:t>
            </a:r>
            <a:r>
              <a:rPr lang="pt-BR" sz="1100" i="1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r>
              <a:rPr lang="pt-BR" sz="1100" i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 i="1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Arial"/>
                <a:ea typeface="Arial"/>
                <a:cs typeface="Arial"/>
                <a:sym typeface="Arial"/>
              </a:rPr>
              <a:t>}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Exemplo: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dirty="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@media </a:t>
            </a:r>
            <a:r>
              <a:rPr lang="pt-BR" sz="1100" dirty="0" err="1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screen</a:t>
            </a:r>
            <a:r>
              <a:rPr lang="pt-BR" sz="1100" dirty="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 dirty="0" err="1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pt-BR" sz="1100" dirty="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 (min-</a:t>
            </a:r>
            <a:r>
              <a:rPr lang="pt-BR" sz="1100" dirty="0" err="1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width</a:t>
            </a:r>
            <a:r>
              <a:rPr lang="pt-BR" sz="1100" dirty="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: 480px) </a:t>
            </a:r>
            <a:r>
              <a:rPr lang="pt-BR" sz="1100" dirty="0">
                <a:latin typeface="Arial"/>
                <a:ea typeface="Arial"/>
                <a:cs typeface="Arial"/>
                <a:sym typeface="Arial"/>
              </a:rPr>
              <a:t>{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dirty="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pt-BR" sz="1100" dirty="0" err="1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r>
              <a:rPr lang="pt-BR" sz="1100" dirty="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 dirty="0">
                <a:latin typeface="Arial"/>
                <a:ea typeface="Arial"/>
                <a:cs typeface="Arial"/>
                <a:sym typeface="Arial"/>
              </a:rPr>
              <a:t>{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    background-color</a:t>
            </a:r>
            <a:r>
              <a:rPr lang="pt-BR" sz="1100" dirty="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 dirty="0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 dirty="0" err="1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lightgreen</a:t>
            </a:r>
            <a:r>
              <a:rPr lang="pt-BR" sz="1100" dirty="0">
                <a:latin typeface="Arial"/>
                <a:ea typeface="Arial"/>
                <a:cs typeface="Arial"/>
                <a:sym typeface="Arial"/>
              </a:rPr>
              <a:t>;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pt-BR" sz="1100" dirty="0">
                <a:latin typeface="Arial"/>
                <a:ea typeface="Arial"/>
                <a:cs typeface="Arial"/>
                <a:sym typeface="Arial"/>
              </a:rPr>
              <a:t>}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Arial"/>
                <a:ea typeface="Arial"/>
                <a:cs typeface="Arial"/>
                <a:sym typeface="Arial"/>
              </a:rPr>
              <a:t>}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Media Queries</a:t>
            </a:r>
            <a:endParaRPr/>
          </a:p>
        </p:txBody>
      </p:sp>
      <p:sp>
        <p:nvSpPr>
          <p:cNvPr id="260" name="Google Shape;260;p46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dirty="0"/>
              <a:t>Tipos de media: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dirty="0" err="1"/>
              <a:t>all</a:t>
            </a:r>
            <a:r>
              <a:rPr lang="pt-BR" dirty="0"/>
              <a:t> - todos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dirty="0" err="1"/>
              <a:t>print</a:t>
            </a:r>
            <a:r>
              <a:rPr lang="pt-BR" dirty="0"/>
              <a:t> - impressora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dirty="0" err="1"/>
              <a:t>screen</a:t>
            </a:r>
            <a:r>
              <a:rPr lang="pt-BR" dirty="0"/>
              <a:t> - telas de computador, </a:t>
            </a:r>
            <a:r>
              <a:rPr lang="pt-BR" dirty="0" err="1"/>
              <a:t>tablets</a:t>
            </a:r>
            <a:r>
              <a:rPr lang="pt-BR" dirty="0"/>
              <a:t>, celulares, </a:t>
            </a:r>
            <a:r>
              <a:rPr lang="pt-BR" dirty="0" err="1"/>
              <a:t>etc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dirty="0"/>
              <a:t>speech - </a:t>
            </a:r>
            <a:r>
              <a:rPr lang="pt-BR" dirty="0" err="1"/>
              <a:t>screenreaders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dirty="0"/>
              <a:t>Características da media: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dirty="0" err="1"/>
              <a:t>max-height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dirty="0"/>
              <a:t>min-</a:t>
            </a:r>
            <a:r>
              <a:rPr lang="pt-BR" dirty="0" err="1"/>
              <a:t>height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dirty="0" err="1"/>
              <a:t>max-width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dirty="0"/>
              <a:t>min-</a:t>
            </a:r>
            <a:r>
              <a:rPr lang="pt-BR" dirty="0" err="1"/>
              <a:t>width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dirty="0"/>
              <a:t>min-</a:t>
            </a:r>
            <a:r>
              <a:rPr lang="pt-BR" dirty="0" err="1"/>
              <a:t>resolution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dirty="0" err="1"/>
              <a:t>max-resolution</a:t>
            </a: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7"/>
          <p:cNvSpPr txBox="1">
            <a:spLocks noGrp="1"/>
          </p:cNvSpPr>
          <p:nvPr>
            <p:ph type="title"/>
          </p:nvPr>
        </p:nvSpPr>
        <p:spPr>
          <a:xfrm>
            <a:off x="490250" y="701800"/>
            <a:ext cx="56040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Perguntas?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Prof. Victor Farias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3137</TotalTime>
  <Words>2372</Words>
  <Application>Microsoft Macintosh PowerPoint</Application>
  <PresentationFormat>Apresentação na tela (4:3)</PresentationFormat>
  <Paragraphs>365</Paragraphs>
  <Slides>35</Slides>
  <Notes>35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9" baseType="lpstr">
      <vt:lpstr>Old Standard TT</vt:lpstr>
      <vt:lpstr>Arial</vt:lpstr>
      <vt:lpstr>Consolas</vt:lpstr>
      <vt:lpstr>Paperback</vt:lpstr>
      <vt:lpstr>CSS 3 </vt:lpstr>
      <vt:lpstr>Referências</vt:lpstr>
      <vt:lpstr>Introdução</vt:lpstr>
      <vt:lpstr>CSS 3</vt:lpstr>
      <vt:lpstr>CSS 3</vt:lpstr>
      <vt:lpstr>Bordas Arredondas</vt:lpstr>
      <vt:lpstr>Backgrounds</vt:lpstr>
      <vt:lpstr>Gradientes</vt:lpstr>
      <vt:lpstr>Gradientes Lineares</vt:lpstr>
      <vt:lpstr>Gradientes Lineares</vt:lpstr>
      <vt:lpstr>Gradientes Lineares</vt:lpstr>
      <vt:lpstr>Gradientes Lineares</vt:lpstr>
      <vt:lpstr>Gradientes Lineares</vt:lpstr>
      <vt:lpstr>Gradientes Radiais</vt:lpstr>
      <vt:lpstr>Gradientes Radiais</vt:lpstr>
      <vt:lpstr>Sombra</vt:lpstr>
      <vt:lpstr>Sombra</vt:lpstr>
      <vt:lpstr>Sombra</vt:lpstr>
      <vt:lpstr>Transformações 2D </vt:lpstr>
      <vt:lpstr>Transformações 2D</vt:lpstr>
      <vt:lpstr>Transformações 2D</vt:lpstr>
      <vt:lpstr>Transformações 2D</vt:lpstr>
      <vt:lpstr>Transformações 2D</vt:lpstr>
      <vt:lpstr>Transformações 2D</vt:lpstr>
      <vt:lpstr>Transformações 3D </vt:lpstr>
      <vt:lpstr>Transições</vt:lpstr>
      <vt:lpstr>Transições</vt:lpstr>
      <vt:lpstr>Transições</vt:lpstr>
      <vt:lpstr>Animação</vt:lpstr>
      <vt:lpstr>Animação</vt:lpstr>
      <vt:lpstr>Animação</vt:lpstr>
      <vt:lpstr>Box sizing</vt:lpstr>
      <vt:lpstr>Media Queries</vt:lpstr>
      <vt:lpstr>Media Queries</vt:lpstr>
      <vt:lpstr>  Perguntas?    Prof. Victor Farias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3 </dc:title>
  <cp:lastModifiedBy>RAFAEL ELIAS DE LIMA ESCALFONI</cp:lastModifiedBy>
  <cp:revision>3</cp:revision>
  <dcterms:modified xsi:type="dcterms:W3CDTF">2026-10-01T19:02:19Z</dcterms:modified>
</cp:coreProperties>
</file>